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6" r:id="rId5"/>
    <p:sldId id="259" r:id="rId6"/>
    <p:sldId id="260" r:id="rId7"/>
    <p:sldId id="261" r:id="rId8"/>
    <p:sldId id="262" r:id="rId9"/>
    <p:sldId id="274" r:id="rId10"/>
    <p:sldId id="263" r:id="rId11"/>
    <p:sldId id="275" r:id="rId12"/>
    <p:sldId id="269" r:id="rId13"/>
    <p:sldId id="270" r:id="rId14"/>
    <p:sldId id="271" r:id="rId15"/>
    <p:sldId id="272" r:id="rId16"/>
    <p:sldId id="265" r:id="rId17"/>
    <p:sldId id="273" r:id="rId18"/>
    <p:sldId id="267" r:id="rId19"/>
    <p:sldId id="26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CA26B7-0C77-4C4D-AA9B-C23E65EC3A36}" v="7" dt="2026-03-25T11:50:22.3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86" autoAdjust="0"/>
    <p:restoredTop sz="94660"/>
  </p:normalViewPr>
  <p:slideViewPr>
    <p:cSldViewPr snapToGrid="0">
      <p:cViewPr varScale="1">
        <p:scale>
          <a:sx n="79" d="100"/>
          <a:sy n="79" d="100"/>
        </p:scale>
        <p:origin x="64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CD3948-CF54-444D-AD05-84E901A08D67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A142F-DC0F-43D0-9BCE-06558026A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045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282D7-F1EC-4520-A602-E088514CD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71FD11-3CA6-497C-BBA4-E15B0F497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D3BD9-6689-45C7-9B08-81D5D59B2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D452D-7E0B-42A6-A893-33861259EAB0}" type="datetime1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A2163-9FBB-4224-87CE-E43057810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78212-BCC0-40FF-AA6A-C7AA31B0A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56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3C025-CBBD-4FCB-8D8D-1133BCD67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04E39-73A2-48F5-AC0E-E2DE38CB5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7F61D-6510-4703-9900-E9D8FDAA0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C70B5-49FD-4BA9-BFCE-50EE0BDFF532}" type="datetime1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D0BEB-7C8C-4A58-8442-F75CA99D7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16719-362D-4C8E-8D0B-A0B49F75C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008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B9B54-CB5E-4B97-94B1-8EA59CFA5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7DD9A-1005-4A57-A9F8-6CA332F86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A9943-5766-4C55-910F-B13653D48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BB9FD-9FB7-4035-9CBF-2E75AACBC7D2}" type="datetime1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DE26F-0508-4C33-91FF-DEF1DB381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5ACD0-FE90-4720-8E64-1CFC76E87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111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8DCA6-5ADB-494D-B79F-9A343BDB6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ED017-2B98-42F9-B472-69D47961A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27AE27-D3AE-4CD8-9B40-AB41365DB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6D50D-73AD-40AC-8D54-60CDA1571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93D4D-D4CC-40F2-BB09-BD8366242743}" type="datetime1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6F8A2-DE77-4F5E-A95C-1E1667256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2DA46-38E4-4698-A6C9-D0D9DDAE5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702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6EFEC-CFB9-4965-84F1-885BABACB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DB79B-48F0-4729-B981-F91D7CFBD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F334F5-47A2-4DE9-B54B-7C25FAA39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92B264-93F3-475E-93FD-AFCAF35598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93E452-BB3A-432A-9E69-3752D09DFE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682C68-8051-4E34-BA4D-F257200FE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70053-EB7C-45CE-83E4-3F12E6EAA123}" type="datetime1">
              <a:rPr lang="en-IN" smtClean="0"/>
              <a:t>07-06-2026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12B42E-8FDF-4526-885D-014E65453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236B25-22AA-4578-AA51-10617A50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112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4DFFB-B7A9-460A-A4D2-C968C4E75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C3BDCF-7AF4-4F5D-837F-23E3B8139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05428-E2C0-4060-A4B0-14726F6C3C47}" type="datetime1">
              <a:rPr lang="en-IN" smtClean="0"/>
              <a:t>07-06-2026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205C82-710D-4B49-8E23-4D848D889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A56B34-E66E-4B7B-A554-46628CB75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989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146B71-27F0-4C37-B0B3-1DFF5EC0C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8606E-761F-4BA6-BEBA-7567183AED59}" type="datetime1">
              <a:rPr lang="en-IN" smtClean="0"/>
              <a:t>07-06-2026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8D80D4-024F-41B2-9A32-88419C540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374D8-8646-435E-8A19-04BEB1BE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045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2F3FF-5F09-4C44-925C-2E57DA630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951D0-A074-4659-B2D1-684B08865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9A2B0-7C26-4CE8-9DB6-FC4918F6D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BD525-9029-411B-B89A-E4B549B28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D5605-3026-4801-912E-870654A91BAC}" type="datetime1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BAC34-761C-4DE3-981B-18CE523C7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BE8D9-EA42-482E-845E-0AB19CBF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755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24487-8A30-430F-ABA8-20E97D474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BBBF68-E273-48F7-9444-626FAB72A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D18065-243D-48E8-9BCB-E2BFCD044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C4563-9AFD-494C-88A2-ACB08D1F2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FFAE-65BA-423F-93EF-8510F62572D4}" type="datetime1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473C1E-2447-4B47-8039-AFCA5D446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2C169-260C-4F57-B6EB-F10B3FAF7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000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3C22-47F3-4E0C-87DD-0A30643D7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E64912-309B-428F-B110-266BAFD891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CF2EA-C06C-4492-ACAB-0A6FE342B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F9AA-1750-4496-A48D-9DC879C9FC53}" type="datetime1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9FC44-3DC5-4668-8ECA-F622804F7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5BA7-C2CE-4E2A-938A-6AB39334F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509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E48589-1C71-4875-B30E-C31FBE6D0A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41B3F8-6CBD-46A6-AD30-67FBAB028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DC756-6FC7-4F52-A8D8-A9B1AC232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1D0B-B9DC-4C0D-AFA5-8816E8177461}" type="datetime1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48C1A-48E5-4A2C-9C1F-A71379648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E6FA5-4C2F-4622-9F12-26A271E72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599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563206-07C8-45DE-ABD2-2EEDF2780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78571-16D9-441F-A387-9D158FD62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71473-5C48-4451-BC4C-7DFC0755BA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B9860-3173-4580-87F0-42FE637AC4AC}" type="datetime1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B844C-5A4D-4D91-B763-006BC7F33B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School of Computing - SRM Institute of Science &amp; Technology, Tiruchirappalli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88548-280A-4739-9987-ADA6D6CBCB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87D95-E3E9-43CF-A987-B5CE8A6163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59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unity3d.com/" TargetMode="External"/><Relationship Id="rId2" Type="http://schemas.openxmlformats.org/officeDocument/2006/relationships/hyperlink" Target="https://developers.google.com/a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7A07C-60B9-4BFA-8812-E20B5D417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3185" y="2240539"/>
            <a:ext cx="9529482" cy="1655584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​</a:t>
            </a:r>
            <a:br>
              <a:rPr lang="en-US" dirty="0"/>
            </a:br>
            <a:r>
              <a:rPr lang="en-US" sz="3900" b="1" dirty="0"/>
              <a:t>AR FURNITURE CUSTOMIZER</a:t>
            </a:r>
            <a:br>
              <a:rPr lang="en-US" sz="3200" b="1" dirty="0"/>
            </a:br>
            <a:endParaRPr lang="en-IN" sz="3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08657-F627-484B-92C4-35C9A01F07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9333" y="1353670"/>
            <a:ext cx="9144000" cy="4567427"/>
          </a:xfrm>
        </p:spPr>
        <p:txBody>
          <a:bodyPr/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409D071-504A-41F1-9191-D5671319B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484D807-1AA6-4DCB-9F29-048AAFA7A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F7A3CF3-83D6-431F-84EF-2E1E09B53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657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9A9CD-39B5-4BCC-9FBC-845D0B2D8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1082" y="65288"/>
            <a:ext cx="9605683" cy="1614956"/>
          </a:xfrm>
        </p:spPr>
        <p:txBody>
          <a:bodyPr/>
          <a:lstStyle/>
          <a:p>
            <a:r>
              <a:rPr lang="en-IN" b="1" dirty="0"/>
              <a:t>Problem 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F058A-7DE0-43A0-8E5E-E963655FC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41C7D-5777-44D1-85DD-AC938906D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B8865-F524-4ADA-8B86-E1ABAFB5F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2</a:t>
            </a:fld>
            <a:endParaRPr lang="en-IN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B9E9E40-2B24-BF52-BA93-33807938AC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5931" y="1880347"/>
            <a:ext cx="8966269" cy="3495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Users cannot visualize furniture in their real environment before purchase</a:t>
            </a:r>
          </a:p>
          <a:p>
            <a:r>
              <a:rPr lang="en-US" sz="2400" dirty="0"/>
              <a:t>Results in wrong size, color, and placement decisions</a:t>
            </a:r>
          </a:p>
          <a:p>
            <a:r>
              <a:rPr lang="en-US" sz="2400" dirty="0"/>
              <a:t>High return rates increase cost for e-commerce platforms</a:t>
            </a:r>
          </a:p>
          <a:p>
            <a:r>
              <a:rPr lang="en-US" sz="2400" dirty="0"/>
              <a:t>Lack of immersive and interactive experience reduces user confidence</a:t>
            </a:r>
          </a:p>
          <a:p>
            <a:r>
              <a:rPr lang="en-US" sz="2400" dirty="0"/>
              <a:t>Need for a smart solution to bridge online and real-world visualization gap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276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E8866-C2EF-41E6-8A42-C7ADC15D8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8200" y="248584"/>
            <a:ext cx="10984753" cy="1325563"/>
          </a:xfrm>
        </p:spPr>
        <p:txBody>
          <a:bodyPr/>
          <a:lstStyle/>
          <a:p>
            <a:r>
              <a:rPr lang="en-IN" b="1" dirty="0"/>
              <a:t>Objectives (Refined)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5FDB2-18A9-4ECF-9FAF-BCCEAC8A5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DE755-6852-4DC2-AAA8-7C24EED97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5A9D2-93FF-487C-9FC5-2E5D09FD9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3</a:t>
            </a:fld>
            <a:endParaRPr lang="en-IN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2008EE8-F0DF-E53D-99FE-7B3A6F8732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8801" y="1886859"/>
            <a:ext cx="6954370" cy="3541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Develop an AR-based furniture customization system</a:t>
            </a:r>
          </a:p>
          <a:p>
            <a:r>
              <a:rPr lang="en-US" sz="2400" dirty="0"/>
              <a:t>Enable real-time visualization of furniture in user environment</a:t>
            </a:r>
          </a:p>
          <a:p>
            <a:r>
              <a:rPr lang="en-US" sz="2400" dirty="0"/>
              <a:t>Provide dynamic customization (size, rotation, color, texture)</a:t>
            </a:r>
          </a:p>
          <a:p>
            <a:r>
              <a:rPr lang="en-US" sz="2400" dirty="0"/>
              <a:t>Improve decision-making accuracy</a:t>
            </a:r>
          </a:p>
          <a:p>
            <a:r>
              <a:rPr lang="en-US" sz="2400" dirty="0"/>
              <a:t>Enhance user experience and reduce product returns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294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57B06-88AB-3803-2DE6-E4B37BD6C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629" y="134136"/>
            <a:ext cx="9504797" cy="1325563"/>
          </a:xfrm>
        </p:spPr>
        <p:txBody>
          <a:bodyPr/>
          <a:lstStyle/>
          <a:p>
            <a:r>
              <a:rPr lang="en-IN" b="1" dirty="0"/>
              <a:t>Literature Survey Update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3E84476-B96F-C3FA-D62D-73E48E4C32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2737253"/>
              </p:ext>
            </p:extLst>
          </p:nvPr>
        </p:nvGraphicFramePr>
        <p:xfrm>
          <a:off x="182880" y="1565728"/>
          <a:ext cx="12009120" cy="4723939"/>
        </p:xfrm>
        <a:graphic>
          <a:graphicData uri="http://schemas.openxmlformats.org/drawingml/2006/table">
            <a:tbl>
              <a:tblPr/>
              <a:tblGrid>
                <a:gridCol w="2604780">
                  <a:extLst>
                    <a:ext uri="{9D8B030D-6E8A-4147-A177-3AD203B41FA5}">
                      <a16:colId xmlns:a16="http://schemas.microsoft.com/office/drawing/2014/main" val="785676410"/>
                    </a:ext>
                  </a:extLst>
                </a:gridCol>
                <a:gridCol w="2351085">
                  <a:extLst>
                    <a:ext uri="{9D8B030D-6E8A-4147-A177-3AD203B41FA5}">
                      <a16:colId xmlns:a16="http://schemas.microsoft.com/office/drawing/2014/main" val="3996878818"/>
                    </a:ext>
                  </a:extLst>
                </a:gridCol>
                <a:gridCol w="2351085">
                  <a:extLst>
                    <a:ext uri="{9D8B030D-6E8A-4147-A177-3AD203B41FA5}">
                      <a16:colId xmlns:a16="http://schemas.microsoft.com/office/drawing/2014/main" val="4017249481"/>
                    </a:ext>
                  </a:extLst>
                </a:gridCol>
                <a:gridCol w="2351085">
                  <a:extLst>
                    <a:ext uri="{9D8B030D-6E8A-4147-A177-3AD203B41FA5}">
                      <a16:colId xmlns:a16="http://schemas.microsoft.com/office/drawing/2014/main" val="3420578746"/>
                    </a:ext>
                  </a:extLst>
                </a:gridCol>
                <a:gridCol w="2351085">
                  <a:extLst>
                    <a:ext uri="{9D8B030D-6E8A-4147-A177-3AD203B41FA5}">
                      <a16:colId xmlns:a16="http://schemas.microsoft.com/office/drawing/2014/main" val="827870014"/>
                    </a:ext>
                  </a:extLst>
                </a:gridCol>
              </a:tblGrid>
              <a:tr h="517699">
                <a:tc>
                  <a:txBody>
                    <a:bodyPr/>
                    <a:lstStyle/>
                    <a:p>
                      <a:r>
                        <a:rPr sz="1800" b="1" dirty="0"/>
                        <a:t>Author &amp; Year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/>
                        <a:t>Approach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/>
                        <a:t>Technology Used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/>
                        <a:t>Key Outcome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/>
                        <a:t>Gap Identified</a:t>
                      </a:r>
                      <a:endParaRPr lang="en-IN" sz="1800" b="1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607237"/>
                  </a:ext>
                </a:extLst>
              </a:tr>
              <a:tr h="517699">
                <a:tc>
                  <a:txBody>
                    <a:bodyPr/>
                    <a:lstStyle/>
                    <a:p>
                      <a:r>
                        <a:rPr sz="1800" dirty="0"/>
                        <a:t>Henderson (2011)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AR Training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AR-based instruction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Improved learning efficiency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No real-world interaction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621111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sz="1800" dirty="0"/>
                        <a:t>Minogue (2006)</a:t>
                      </a:r>
                      <a:endParaRPr lang="en-IN" sz="1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Haptic Learning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Touch systems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Better understanding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High cost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1725086"/>
                  </a:ext>
                </a:extLst>
              </a:tr>
              <a:tr h="295828">
                <a:tc>
                  <a:txBody>
                    <a:bodyPr/>
                    <a:lstStyle/>
                    <a:p>
                      <a:r>
                        <a:rPr sz="1800" dirty="0" err="1"/>
                        <a:t>Dünser</a:t>
                      </a:r>
                      <a:r>
                        <a:rPr sz="1800" dirty="0"/>
                        <a:t> (2012)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AR Education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Interactive AR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Increased engagement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Low realism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35777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sz="1800" dirty="0"/>
                        <a:t>Moro (2017)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AR/VR Learning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Immersive tech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Improved spatial skills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Needs infrastructure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452278"/>
                  </a:ext>
                </a:extLst>
              </a:tr>
              <a:tr h="295828">
                <a:tc>
                  <a:txBody>
                    <a:bodyPr/>
                    <a:lstStyle/>
                    <a:p>
                      <a:r>
                        <a:rPr sz="1800" dirty="0" err="1"/>
                        <a:t>Radianti</a:t>
                      </a:r>
                      <a:r>
                        <a:rPr sz="1800" dirty="0"/>
                        <a:t> (2020)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Review Study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AR/VR systems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Better outcomes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Integration complexity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223736"/>
                  </a:ext>
                </a:extLst>
              </a:tr>
              <a:tr h="295828">
                <a:tc>
                  <a:txBody>
                    <a:bodyPr/>
                    <a:lstStyle/>
                    <a:p>
                      <a:r>
                        <a:rPr sz="1800" dirty="0"/>
                        <a:t>Zhang (2021)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AR + Interaction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Multi-modal systems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Improved retention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Calibration issues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90502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sz="1800" dirty="0"/>
                        <a:t>IKEA Place (2017)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AR Shopping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ARKit/ARCore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Real-time visualization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Limited customization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810449"/>
                  </a:ext>
                </a:extLst>
              </a:tr>
              <a:tr h="295828">
                <a:tc>
                  <a:txBody>
                    <a:bodyPr/>
                    <a:lstStyle/>
                    <a:p>
                      <a:r>
                        <a:rPr sz="1800" dirty="0"/>
                        <a:t>Houzz (2019)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Interior Design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Mobile AR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Better UX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Limited accuracy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960568"/>
                  </a:ext>
                </a:extLst>
              </a:tr>
              <a:tr h="295828">
                <a:tc>
                  <a:txBody>
                    <a:bodyPr/>
                    <a:lstStyle/>
                    <a:p>
                      <a:r>
                        <a:rPr sz="1800"/>
                        <a:t>Kim et al. (2022)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AR Retail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3D visualization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Better decisions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Performance issues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974009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sz="1800"/>
                        <a:t>Li et al. (2023)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AR Customization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AI + AR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Personalization</a:t>
                      </a:r>
                    </a:p>
                    <a:p>
                      <a:endParaRPr sz="1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High computation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72756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4386A-D74B-1683-434A-1C601A519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C1E22-4A2A-49FE-2717-EBFB887C4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19AA0-7E4C-712D-9602-89CC660AC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202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33CAA-3097-4347-9F93-FB90A14EB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9823" y="136525"/>
            <a:ext cx="10515600" cy="1325563"/>
          </a:xfrm>
        </p:spPr>
        <p:txBody>
          <a:bodyPr/>
          <a:lstStyle/>
          <a:p>
            <a:r>
              <a:rPr lang="en-IN" b="1" dirty="0"/>
              <a:t>Literature Survey Update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9D65F-3E87-45F7-BF69-0341BD8E0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34EDA-77D1-454F-A8FC-6868B6AEE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B56D1-0F3E-4F4A-A93A-85B515A52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5</a:t>
            </a:fld>
            <a:endParaRPr lang="en-IN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E3EF379-2DEA-C6F5-B97D-FE5A06515D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71420" y="1918069"/>
            <a:ext cx="7081980" cy="3873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Existing systems like IKEA Place focus mainly on visualization</a:t>
            </a:r>
          </a:p>
          <a:p>
            <a:r>
              <a:rPr lang="en-US" sz="2400" dirty="0"/>
              <a:t>Limited support for customization and personalization</a:t>
            </a:r>
          </a:p>
          <a:p>
            <a:r>
              <a:rPr lang="en-US" sz="2400" dirty="0"/>
              <a:t>Research highlights AR as a key technology in retail transformation</a:t>
            </a:r>
          </a:p>
          <a:p>
            <a:r>
              <a:rPr lang="en-US" sz="2400" dirty="0"/>
              <a:t>Most applications lack advanced interaction features</a:t>
            </a:r>
          </a:p>
          <a:p>
            <a:r>
              <a:rPr lang="en-US" sz="2400" dirty="0"/>
              <a:t>Performance optimization remains a challenge in mobile 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390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14683-725D-4A78-8818-68B72C394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7071" y="136525"/>
            <a:ext cx="10515600" cy="1325563"/>
          </a:xfrm>
        </p:spPr>
        <p:txBody>
          <a:bodyPr/>
          <a:lstStyle/>
          <a:p>
            <a:r>
              <a:rPr lang="en-IN" b="1" dirty="0"/>
              <a:t>Research Gap Validation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C18FB-8828-42FB-8C4A-6993AE4EA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B1B74-3F56-4A93-80F0-95A857398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592BF-806D-448D-A44D-5B9E2736A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6</a:t>
            </a:fld>
            <a:endParaRPr lang="en-IN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B8D09D4-A6FC-F01A-4E2A-7DAD62A95E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72419" y="1848944"/>
            <a:ext cx="6276399" cy="3541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Lack of real-time customization features in AR systems</a:t>
            </a:r>
          </a:p>
          <a:p>
            <a:r>
              <a:rPr lang="en-US" sz="2400" dirty="0"/>
              <a:t>Limited accuracy in object scaling and placement</a:t>
            </a:r>
          </a:p>
          <a:p>
            <a:r>
              <a:rPr lang="en-US" sz="2400" dirty="0"/>
              <a:t>Poor performance on low-end mobile devices</a:t>
            </a:r>
          </a:p>
          <a:p>
            <a:r>
              <a:rPr lang="en-US" sz="2400" dirty="0"/>
              <a:t>Absence of AI-driven recommendations</a:t>
            </a:r>
          </a:p>
          <a:p>
            <a:r>
              <a:rPr lang="en-US" sz="2400" dirty="0"/>
              <a:t>Need for user-friendly and efficient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521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2DC39-D699-45C0-BECB-A05C31BB2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659" y="136525"/>
            <a:ext cx="9489141" cy="1325563"/>
          </a:xfrm>
        </p:spPr>
        <p:txBody>
          <a:bodyPr/>
          <a:lstStyle/>
          <a:p>
            <a:r>
              <a:rPr lang="en-IN" b="1" dirty="0"/>
              <a:t>Proposed System Overview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64A67-5223-4346-AFA9-D0EC28D41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F70C6-EB61-4265-909B-C00F29989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03CFF-A2C7-4C0B-A94B-6704D753B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7</a:t>
            </a:fld>
            <a:endParaRPr lang="en-IN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EBD6DA1-51F0-D4D2-0353-5F8C72990C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7455" y="1990657"/>
            <a:ext cx="7045945" cy="2876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Mobile-based AR application for furniture customization</a:t>
            </a:r>
          </a:p>
          <a:p>
            <a:r>
              <a:rPr lang="en-US" sz="2400" dirty="0"/>
              <a:t>Detects real-world surfaces using camera</a:t>
            </a:r>
          </a:p>
          <a:p>
            <a:r>
              <a:rPr lang="en-US" sz="2400" dirty="0"/>
              <a:t>Places 3D furniture models in real-time</a:t>
            </a:r>
          </a:p>
          <a:p>
            <a:r>
              <a:rPr lang="en-US" sz="2400" dirty="0"/>
              <a:t>Allows resizing, rotation, and texture modification</a:t>
            </a:r>
          </a:p>
          <a:p>
            <a:r>
              <a:rPr lang="en-US" sz="2400" dirty="0"/>
              <a:t>Provides interactive and immersive user experience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551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642EF-C6BF-476E-956F-7BF8A68EC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3624" y="136525"/>
            <a:ext cx="9480176" cy="1325563"/>
          </a:xfrm>
        </p:spPr>
        <p:txBody>
          <a:bodyPr>
            <a:normAutofit/>
          </a:bodyPr>
          <a:lstStyle/>
          <a:p>
            <a:r>
              <a:rPr lang="en-IN" b="1" dirty="0"/>
              <a:t>System Architecture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543F0-3924-4A79-814B-5E5BA0F2B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19D43-FE3F-4B81-AB9E-56E06D751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C5955-2252-49D2-A5DB-3546D9897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8</a:t>
            </a:fld>
            <a:endParaRPr lang="en-IN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9453602-2863-A8B9-3D26-F59A01EFD0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4383" y="1548472"/>
            <a:ext cx="710901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</a:rPr>
              <a:t>User Interface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AR Engine (Unity + </a:t>
            </a:r>
            <a:r>
              <a:rPr lang="en-US" altLang="en-US" sz="2000" dirty="0" err="1">
                <a:latin typeface="Arial" panose="020B0604020202020204" pitchFamily="34" charset="0"/>
              </a:rPr>
              <a:t>ARCore</a:t>
            </a:r>
            <a:r>
              <a:rPr lang="en-US" altLang="en-US" sz="2000" dirty="0">
                <a:latin typeface="Arial" panose="020B0604020202020204" pitchFamily="34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Customization Module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3D Model Database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Camera &amp; Sensors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 Flow: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User → Camera → AR Engine → Customization → Display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8816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600A1-32A5-343B-8E89-31CE7638E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9429" y="0"/>
            <a:ext cx="9394371" cy="1325563"/>
          </a:xfrm>
        </p:spPr>
        <p:txBody>
          <a:bodyPr/>
          <a:lstStyle/>
          <a:p>
            <a:r>
              <a:rPr lang="en-IN" b="1" dirty="0"/>
              <a:t>System Architecture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B5CC8-4348-9EE2-6CAE-00F199253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1174A-96C8-45FE-EE2E-1C4966FE0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9</a:t>
            </a:fld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EE439CA-31BF-F014-6917-CB27FD36E7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38" y="1170272"/>
            <a:ext cx="4237076" cy="568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871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F2E5-CCD3-4FFE-AE47-93435FB3B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764" y="136525"/>
            <a:ext cx="9516035" cy="1325563"/>
          </a:xfrm>
        </p:spPr>
        <p:txBody>
          <a:bodyPr/>
          <a:lstStyle/>
          <a:p>
            <a:r>
              <a:rPr lang="en-IN" b="1" dirty="0"/>
              <a:t>Methodology &amp; Design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F84C5-D261-4B34-823C-5BCDADDF0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08BC8-9E8F-4022-9C06-B8B400958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4E2DD-8B69-44F0-B147-CBB0AAAED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10</a:t>
            </a:fld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3948013-FDDE-37C7-01ED-FDECFFC481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83308" y="1800917"/>
            <a:ext cx="5610861" cy="2922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User interface design completed</a:t>
            </a:r>
          </a:p>
          <a:p>
            <a:r>
              <a:rPr lang="en-US" sz="2400" dirty="0"/>
              <a:t>AR environment successfully integrated</a:t>
            </a:r>
          </a:p>
          <a:p>
            <a:r>
              <a:rPr lang="en-US" sz="2400" dirty="0"/>
              <a:t>3D models added and rendered</a:t>
            </a:r>
          </a:p>
          <a:p>
            <a:r>
              <a:rPr lang="en-US" sz="2400" dirty="0"/>
              <a:t>Object placement functionality working</a:t>
            </a:r>
          </a:p>
          <a:p>
            <a:r>
              <a:rPr lang="en-US" sz="2400" dirty="0"/>
              <a:t>Customization module partially implemented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894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6662A-6B6E-6040-ACA6-D97FD4410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8090" y="365125"/>
            <a:ext cx="9375710" cy="1325563"/>
          </a:xfrm>
        </p:spPr>
        <p:txBody>
          <a:bodyPr/>
          <a:lstStyle/>
          <a:p>
            <a:r>
              <a:rPr lang="en-IN" b="1" dirty="0"/>
              <a:t>Tools &amp; Technologies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AB3A4-90DB-B8DD-7683-3FF8D5865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Unity / Unreal Engine </a:t>
            </a:r>
          </a:p>
          <a:p>
            <a:endParaRPr lang="en-US" dirty="0"/>
          </a:p>
          <a:p>
            <a:r>
              <a:rPr lang="en-US" dirty="0" err="1"/>
              <a:t>ARCore</a:t>
            </a:r>
            <a:r>
              <a:rPr lang="en-US" dirty="0"/>
              <a:t> / ARKit </a:t>
            </a:r>
          </a:p>
          <a:p>
            <a:endParaRPr lang="en-US" dirty="0"/>
          </a:p>
          <a:p>
            <a:r>
              <a:rPr lang="en-US" dirty="0"/>
              <a:t>Blender (3D models) </a:t>
            </a:r>
          </a:p>
          <a:p>
            <a:endParaRPr lang="en-US" dirty="0"/>
          </a:p>
          <a:p>
            <a:r>
              <a:rPr lang="en-US" dirty="0"/>
              <a:t>Android Studio 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A05D6-8522-C049-5D62-DEE1E44E5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3F520-85DC-A2B9-D189-3AE63216A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435C8-0904-4A8F-F93A-FC009876F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881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F0CE9-6FE0-DBD0-D9EC-DBA8BA613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197" y="44493"/>
            <a:ext cx="10515600" cy="1325563"/>
          </a:xfrm>
        </p:spPr>
        <p:txBody>
          <a:bodyPr/>
          <a:lstStyle/>
          <a:p>
            <a:r>
              <a:rPr lang="en-IN" b="1" dirty="0"/>
              <a:t>Tools &amp; Technologies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624BE-A7E8-18ED-24F1-88CE686EA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88B34-13DD-1D45-FD64-F48CC3F29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61F72-F81A-10A8-170D-E747BCE0B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12</a:t>
            </a:fld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FF7A9BE-0F85-D4E3-9E92-7ED0C2F78B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0767" y="1861693"/>
            <a:ext cx="7906233" cy="2544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Unity 3D for AR development</a:t>
            </a:r>
          </a:p>
          <a:p>
            <a:r>
              <a:rPr lang="en-US" sz="2400" dirty="0" err="1"/>
              <a:t>ARCore</a:t>
            </a:r>
            <a:r>
              <a:rPr lang="en-US" sz="2400" dirty="0"/>
              <a:t> for motion tracking and environment understanding</a:t>
            </a:r>
          </a:p>
          <a:p>
            <a:r>
              <a:rPr lang="en-US" sz="2400" dirty="0"/>
              <a:t>Blender for 3D model creation</a:t>
            </a:r>
          </a:p>
          <a:p>
            <a:r>
              <a:rPr lang="en-US" sz="2400" dirty="0"/>
              <a:t>C# for scripting and logic</a:t>
            </a:r>
          </a:p>
          <a:p>
            <a:r>
              <a:rPr lang="en-US" sz="2400" dirty="0"/>
              <a:t>Android Studio for deployment and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003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64C0B-1C53-E8A7-4D0E-4C7CF9FB9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6318" y="116524"/>
            <a:ext cx="10515600" cy="1325563"/>
          </a:xfrm>
        </p:spPr>
        <p:txBody>
          <a:bodyPr/>
          <a:lstStyle/>
          <a:p>
            <a:r>
              <a:rPr lang="en-IN" b="1" dirty="0"/>
              <a:t>Dataset &amp; Setup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929C5-BE6E-6169-D1C6-C3303750B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10F5C-9156-4AD4-9C9E-CC51D8A04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BCB5F-959E-C4E1-162A-1D7AB0B3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13</a:t>
            </a:fld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6C6B988-3FC1-4B76-BA9A-310CE3A1A7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5212" y="1734354"/>
            <a:ext cx="1060116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 Dataset 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3D furniture models (chairs, tables, sofas)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Custom textures and materials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 Setup 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AR-supported Android device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Unity with </a:t>
            </a:r>
            <a:r>
              <a:rPr lang="en-US" altLang="en-US" sz="2400" dirty="0" err="1">
                <a:latin typeface="Arial" panose="020B0604020202020204" pitchFamily="34" charset="0"/>
              </a:rPr>
              <a:t>ARCore</a:t>
            </a:r>
            <a:r>
              <a:rPr lang="en-US" altLang="en-US" sz="2400" dirty="0">
                <a:latin typeface="Arial" panose="020B0604020202020204" pitchFamily="34" charset="0"/>
              </a:rPr>
              <a:t> SDK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Camera-enabled environment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5781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FFA7C-0960-0D78-FE38-714491FD6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9002" y="28107"/>
            <a:ext cx="10515600" cy="1325563"/>
          </a:xfrm>
        </p:spPr>
        <p:txBody>
          <a:bodyPr/>
          <a:lstStyle/>
          <a:p>
            <a:r>
              <a:rPr lang="en-IN" b="1" dirty="0"/>
              <a:t>Implementation Progress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DAC1E-7A5E-F51D-DD8E-A63AF8724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43AE8-5F51-234A-05F8-AC2AB2E79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69E56-93FB-AEE9-06FF-1B552EF4F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14</a:t>
            </a:fld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9C4C15F-043F-9A53-338A-E6991E47A6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8310" y="1773100"/>
            <a:ext cx="6393889" cy="2267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User interface design completed</a:t>
            </a:r>
          </a:p>
          <a:p>
            <a:r>
              <a:rPr lang="en-US" sz="2400" dirty="0"/>
              <a:t>AR environment successfully integrated</a:t>
            </a:r>
          </a:p>
          <a:p>
            <a:r>
              <a:rPr lang="en-US" sz="2400" dirty="0"/>
              <a:t>3D models added and rendered</a:t>
            </a:r>
          </a:p>
          <a:p>
            <a:r>
              <a:rPr lang="en-US" sz="2400" dirty="0"/>
              <a:t>Object placement functionality working</a:t>
            </a:r>
          </a:p>
          <a:p>
            <a:r>
              <a:rPr lang="en-US" sz="2400" dirty="0"/>
              <a:t>Customization module partially implemented</a:t>
            </a:r>
          </a:p>
        </p:txBody>
      </p:sp>
    </p:spTree>
    <p:extLst>
      <p:ext uri="{BB962C8B-B14F-4D97-AF65-F5344CB8AC3E}">
        <p14:creationId xmlns:p14="http://schemas.microsoft.com/office/powerpoint/2010/main" val="3252738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1A96B-38B6-7E1F-77AD-C5F311B54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527" y="136525"/>
            <a:ext cx="10515600" cy="1325563"/>
          </a:xfrm>
        </p:spPr>
        <p:txBody>
          <a:bodyPr/>
          <a:lstStyle/>
          <a:p>
            <a:r>
              <a:rPr lang="en-IN" b="1" dirty="0"/>
              <a:t>Results / Current Output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F9CCD-408F-5835-AD57-971DC4F95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26822-5D98-83E7-FF38-6958E7E08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DEC6A-2EBC-ACC9-DC7E-F28C4A1B3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15</a:t>
            </a:fld>
            <a:endParaRPr lang="en-IN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19D3077-9AED-14FD-BC30-C6609A8131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799" y="1861243"/>
            <a:ext cx="8287139" cy="2221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Successful real-time AR furniture placement</a:t>
            </a:r>
          </a:p>
          <a:p>
            <a:r>
              <a:rPr lang="en-US" sz="2400" dirty="0"/>
              <a:t>Accurate surface detection achieved</a:t>
            </a:r>
          </a:p>
          <a:p>
            <a:r>
              <a:rPr lang="en-US" sz="2400" dirty="0"/>
              <a:t>Smooth interaction with 3D models</a:t>
            </a:r>
          </a:p>
          <a:p>
            <a:r>
              <a:rPr lang="en-US" sz="2400" dirty="0"/>
              <a:t>Improved visualization experience for users</a:t>
            </a:r>
          </a:p>
          <a:p>
            <a:r>
              <a:rPr lang="en-US" sz="2400" dirty="0"/>
              <a:t>Positive feedback from initial testing</a:t>
            </a:r>
          </a:p>
        </p:txBody>
      </p:sp>
    </p:spTree>
    <p:extLst>
      <p:ext uri="{BB962C8B-B14F-4D97-AF65-F5344CB8AC3E}">
        <p14:creationId xmlns:p14="http://schemas.microsoft.com/office/powerpoint/2010/main" val="3971928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95D28-8A33-C2C6-EA69-CA2E74F9E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8759" y="136525"/>
            <a:ext cx="11251163" cy="1325563"/>
          </a:xfrm>
        </p:spPr>
        <p:txBody>
          <a:bodyPr/>
          <a:lstStyle/>
          <a:p>
            <a:r>
              <a:rPr lang="en-IN" b="1" dirty="0"/>
              <a:t>Challenges Faced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608EF-4041-A7FD-C2D8-1BD3A95FB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2C987-585C-2681-3482-641263AFF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FB87E-063B-1ACE-3ABB-FA2D7D65A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16</a:t>
            </a:fld>
            <a:endParaRPr lang="en-IN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163C3F5-9594-6559-4BEA-AAA0FBF837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7382" y="1878261"/>
            <a:ext cx="6418104" cy="2267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Lighting conditions affecting AR tracking</a:t>
            </a:r>
          </a:p>
          <a:p>
            <a:r>
              <a:rPr lang="en-US" sz="2400" dirty="0"/>
              <a:t>Performance issues with high-resolution models</a:t>
            </a:r>
          </a:p>
          <a:p>
            <a:r>
              <a:rPr lang="en-US" sz="2400" dirty="0"/>
              <a:t>Device compatibility limitations</a:t>
            </a:r>
          </a:p>
          <a:p>
            <a:r>
              <a:rPr lang="en-US" sz="2400" dirty="0"/>
              <a:t>Complexity in real-time customization</a:t>
            </a:r>
          </a:p>
          <a:p>
            <a:r>
              <a:rPr lang="en-US" sz="2400" dirty="0"/>
              <a:t>Optimization of rendering performance</a:t>
            </a:r>
          </a:p>
        </p:txBody>
      </p:sp>
    </p:spTree>
    <p:extLst>
      <p:ext uri="{BB962C8B-B14F-4D97-AF65-F5344CB8AC3E}">
        <p14:creationId xmlns:p14="http://schemas.microsoft.com/office/powerpoint/2010/main" val="856158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548F4-38B9-FE6B-F92F-CEBC9835A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9002" y="14053"/>
            <a:ext cx="10515600" cy="1325563"/>
          </a:xfrm>
        </p:spPr>
        <p:txBody>
          <a:bodyPr/>
          <a:lstStyle/>
          <a:p>
            <a:r>
              <a:rPr lang="en-IN" b="1" dirty="0"/>
              <a:t>Future Work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7AAEB-FA50-5374-FC20-64013FEE4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B334A-800E-836A-614C-FAAF4630E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34FD2-6059-90B7-4AAF-50F5810D0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17</a:t>
            </a:fld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D8A10B4-BD1C-40B2-319C-D81F572ED6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83347" y="1863683"/>
            <a:ext cx="9195572" cy="2267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Integration of AI-based recommendation system</a:t>
            </a:r>
          </a:p>
          <a:p>
            <a:r>
              <a:rPr lang="en-US" sz="2400" dirty="0"/>
              <a:t>Voice and gesture-based controls</a:t>
            </a:r>
          </a:p>
          <a:p>
            <a:r>
              <a:rPr lang="en-US" sz="2400" dirty="0"/>
              <a:t>Cloud-based model storage and updates</a:t>
            </a:r>
          </a:p>
          <a:p>
            <a:r>
              <a:rPr lang="en-US" sz="2400" dirty="0"/>
              <a:t>Multi-user AR collaboration</a:t>
            </a:r>
          </a:p>
          <a:p>
            <a:r>
              <a:rPr lang="en-US" sz="2400" dirty="0"/>
              <a:t>Full VR integration for immersive experience</a:t>
            </a:r>
          </a:p>
        </p:txBody>
      </p:sp>
    </p:spTree>
    <p:extLst>
      <p:ext uri="{BB962C8B-B14F-4D97-AF65-F5344CB8AC3E}">
        <p14:creationId xmlns:p14="http://schemas.microsoft.com/office/powerpoint/2010/main" val="666626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61C33-A9CD-2BCF-FEAF-AF7B2A424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9002" y="136525"/>
            <a:ext cx="10515600" cy="1325563"/>
          </a:xfrm>
        </p:spPr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58359-FC0D-57CD-9E27-A685F7B91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60A2D-38E4-1150-95E7-8CC4D930D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8D2F0-1406-CD1F-469E-46A5D2449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18</a:t>
            </a:fld>
            <a:endParaRPr lang="en-IN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97A3BB1-C190-04FB-36FA-23160BCD37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9349" y="1924562"/>
            <a:ext cx="8225650" cy="2267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AR Furniture Customizer enhances online shopping experience</a:t>
            </a:r>
          </a:p>
          <a:p>
            <a:r>
              <a:rPr lang="en-US" sz="2400" dirty="0"/>
              <a:t>Improves visualization and decision-making</a:t>
            </a:r>
          </a:p>
          <a:p>
            <a:r>
              <a:rPr lang="en-US" sz="2400" dirty="0"/>
              <a:t>Reduces product return rates</a:t>
            </a:r>
          </a:p>
          <a:p>
            <a:r>
              <a:rPr lang="en-US" sz="2400" dirty="0"/>
              <a:t>Provides interactive and engaging user interface</a:t>
            </a:r>
          </a:p>
          <a:p>
            <a:r>
              <a:rPr lang="en-US" sz="2400" dirty="0"/>
              <a:t>Strong potential for future advancements in AR/VR domain</a:t>
            </a:r>
          </a:p>
        </p:txBody>
      </p:sp>
    </p:spTree>
    <p:extLst>
      <p:ext uri="{BB962C8B-B14F-4D97-AF65-F5344CB8AC3E}">
        <p14:creationId xmlns:p14="http://schemas.microsoft.com/office/powerpoint/2010/main" val="531819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8B9A1-5FEF-4357-AE81-54B029916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9446" y="136525"/>
            <a:ext cx="8825753" cy="1325563"/>
          </a:xfrm>
        </p:spPr>
        <p:txBody>
          <a:bodyPr/>
          <a:lstStyle/>
          <a:p>
            <a:r>
              <a:rPr lang="en-IN" b="1" dirty="0"/>
              <a:t>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8B762-846C-4431-A77A-33A4E2E4D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889C2-5ACB-4C17-8730-DF2BAB004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C1B0E-9675-4F76-AF6F-5E369128A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  <a:t>19</a:t>
            </a:fld>
            <a:endParaRPr lang="en-IN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24B21E6-3007-5A3B-6C27-C407F50676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6490" y="1462088"/>
            <a:ext cx="11448661" cy="5027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i="1" dirty="0">
                <a:latin typeface="Arial" panose="020B0604020202020204" pitchFamily="34" charset="0"/>
              </a:rPr>
              <a:t> Azuma, R. T. (2020). A Survey of Augmented Reality. IEEE Transactions on Visualization and Computer Graphics.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i="1" dirty="0">
                <a:latin typeface="Arial" panose="020B0604020202020204" pitchFamily="34" charset="0"/>
              </a:rPr>
              <a:t> Google Developers. (2026). </a:t>
            </a:r>
            <a:r>
              <a:rPr lang="en-US" altLang="en-US" sz="1800" i="1" dirty="0" err="1">
                <a:latin typeface="Arial" panose="020B0604020202020204" pitchFamily="34" charset="0"/>
              </a:rPr>
              <a:t>ARCore</a:t>
            </a:r>
            <a:r>
              <a:rPr lang="en-US" altLang="en-US" sz="1800" i="1" dirty="0">
                <a:latin typeface="Arial" panose="020B0604020202020204" pitchFamily="34" charset="0"/>
              </a:rPr>
              <a:t> Developer Documentation. Available at: </a:t>
            </a:r>
            <a:r>
              <a:rPr lang="en-US" altLang="en-US" sz="1800" i="1" dirty="0">
                <a:latin typeface="Arial" panose="020B0604020202020204" pitchFamily="34" charset="0"/>
                <a:hlinkClick r:id="rId2"/>
              </a:rPr>
              <a:t>https://developers.google.com/ar</a:t>
            </a:r>
            <a:endParaRPr lang="en-US" altLang="en-US" sz="1800" i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i="1" dirty="0">
                <a:latin typeface="Arial" panose="020B0604020202020204" pitchFamily="34" charset="0"/>
              </a:rPr>
              <a:t> Unity Technologies. (2026). AR Foundation Documentation. Available at: </a:t>
            </a:r>
            <a:r>
              <a:rPr lang="en-US" altLang="en-US" sz="1800" i="1" dirty="0">
                <a:latin typeface="Arial" panose="020B0604020202020204" pitchFamily="34" charset="0"/>
                <a:hlinkClick r:id="rId3"/>
              </a:rPr>
              <a:t>https://docs.unity3d.com</a:t>
            </a:r>
            <a:endParaRPr lang="en-US" altLang="en-US" sz="1800" i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i="1" dirty="0">
                <a:latin typeface="Arial" panose="020B0604020202020204" pitchFamily="34" charset="0"/>
              </a:rPr>
              <a:t> Billinghurst, M., Clark, A., &amp; Lee, G. (2021). A Survey of Augmented Reality Applications in Retail and E-commerce. IEEE Access.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i="1" dirty="0">
                <a:latin typeface="Arial" panose="020B0604020202020204" pitchFamily="34" charset="0"/>
              </a:rPr>
              <a:t> Javornik, A. (2021). Augmented Reality: Research Agenda for Studying the Impact of AR on Consumer Behavior. Journal of Retailing and Consumer Services.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i="1" dirty="0">
                <a:latin typeface="Arial" panose="020B0604020202020204" pitchFamily="34" charset="0"/>
              </a:rPr>
              <a:t> Yim, M. Y. C., Chu, S. C., &amp; Sauer, P. L. (2020). Is Augmented Reality Technology an Effective Tool for E-commerce? Journal of Retailing and Consumer Services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</a:p>
          <a:p>
            <a:r>
              <a:rPr lang="en-US" sz="1800" dirty="0"/>
              <a:t>Google </a:t>
            </a:r>
            <a:r>
              <a:rPr lang="en-US" sz="1800" dirty="0" err="1"/>
              <a:t>ARCore</a:t>
            </a:r>
            <a:r>
              <a:rPr lang="en-US" sz="1800" dirty="0"/>
              <a:t> Documentation</a:t>
            </a:r>
          </a:p>
          <a:p>
            <a:r>
              <a:rPr lang="en-US" sz="1800" dirty="0"/>
              <a:t>Unity Official Documentation</a:t>
            </a:r>
          </a:p>
          <a:p>
            <a:r>
              <a:rPr lang="en-US" sz="1800" dirty="0"/>
              <a:t>IEEE Research Papers on AR in Retail</a:t>
            </a:r>
          </a:p>
          <a:p>
            <a:r>
              <a:rPr lang="en-US" sz="1800" dirty="0"/>
              <a:t>Springer Journals on AR/VR Applications</a:t>
            </a:r>
          </a:p>
          <a:p>
            <a:r>
              <a:rPr lang="en-US" sz="1800" dirty="0"/>
              <a:t>Online resources and tutorials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837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</TotalTime>
  <Words>859</Words>
  <Application>Microsoft Office PowerPoint</Application>
  <PresentationFormat>Widescreen</PresentationFormat>
  <Paragraphs>195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Calibri</vt:lpstr>
      <vt:lpstr>Calibri Light</vt:lpstr>
      <vt:lpstr>Times New Roman</vt:lpstr>
      <vt:lpstr>Arial</vt:lpstr>
      <vt:lpstr>Office Theme</vt:lpstr>
      <vt:lpstr>     ​ AR FURNITURE CUSTOMIZER </vt:lpstr>
      <vt:lpstr>Problem Recap</vt:lpstr>
      <vt:lpstr>Objectives (Refined)</vt:lpstr>
      <vt:lpstr>Literature Survey Update</vt:lpstr>
      <vt:lpstr>Literature Survey Update</vt:lpstr>
      <vt:lpstr>Research Gap Validation</vt:lpstr>
      <vt:lpstr>Proposed System Overview</vt:lpstr>
      <vt:lpstr>System Architecture</vt:lpstr>
      <vt:lpstr>System Architecture</vt:lpstr>
      <vt:lpstr>Methodology &amp; Design</vt:lpstr>
      <vt:lpstr>Tools &amp; Technologies</vt:lpstr>
      <vt:lpstr>Tools &amp; Technologies</vt:lpstr>
      <vt:lpstr>Dataset &amp; Setup</vt:lpstr>
      <vt:lpstr>Implementation Progress</vt:lpstr>
      <vt:lpstr>Results / Current Output</vt:lpstr>
      <vt:lpstr>Challenges Faced</vt:lpstr>
      <vt:lpstr>Future Work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 Course Project Tile</dc:title>
  <dc:creator>Manjula R</dc:creator>
  <cp:lastModifiedBy>Mohan KrishnaKanth Madanambeti</cp:lastModifiedBy>
  <cp:revision>17</cp:revision>
  <dcterms:created xsi:type="dcterms:W3CDTF">2025-07-28T13:17:15Z</dcterms:created>
  <dcterms:modified xsi:type="dcterms:W3CDTF">2026-06-06T21:02:36Z</dcterms:modified>
</cp:coreProperties>
</file>